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1"/>
  </p:notesMasterIdLst>
  <p:sldIdLst>
    <p:sldId id="276" r:id="rId3"/>
    <p:sldId id="258" r:id="rId4"/>
    <p:sldId id="277" r:id="rId5"/>
    <p:sldId id="287" r:id="rId6"/>
    <p:sldId id="288" r:id="rId7"/>
    <p:sldId id="289" r:id="rId8"/>
    <p:sldId id="274" r:id="rId9"/>
    <p:sldId id="285" r:id="rId10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E507F-EC64-B540-8BB1-C13D7B8D1D37}" v="5" dt="2026-02-24T06:25:30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07"/>
    <p:restoredTop sz="66468"/>
  </p:normalViewPr>
  <p:slideViewPr>
    <p:cSldViewPr snapToGrid="0">
      <p:cViewPr varScale="1">
        <p:scale>
          <a:sx n="54" d="100"/>
          <a:sy n="54" d="100"/>
        </p:scale>
        <p:origin x="1424" y="20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5FC23-7EFD-4943-8C13-EDFFF5B207E1}" type="datetimeFigureOut">
              <a:rPr lang="en-UA" smtClean="0"/>
              <a:t>24.02.2026</a:t>
            </a:fld>
            <a:endParaRPr lang="en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7A5CE-A427-B34C-B558-883EB129398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951839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30538-E508-AA47-8A15-B077B91F47AF}" type="slidenum">
              <a:rPr kumimoji="0" lang="en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38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is </a:t>
            </a: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оператор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Використовується для перевірки, чи є об'єкт екземпляром певного класу або типу.</a:t>
            </a:r>
            <a:endParaRPr lang="en-US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as </a:t>
            </a: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оператор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Використовується для конвертації типів, при цьому якщо конвертація неможлива, повертає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null.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3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91488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Поглинання </a:t>
            </a:r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null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Деякі операції автоматично обробляють 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null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значення без виклику винятку.</a:t>
            </a:r>
            <a:endParaRPr lang="en-US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Явне перетворення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Використовується, коли компілятор не може автоматично конвертувати один тип в інший.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/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Неявне перетворення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Коли конвертація можлива без втрати даних.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Перевантаження операторів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дозволяє визначити власне поведінку операцій для ваших типів.</a:t>
            </a:r>
            <a:endParaRPr lang="en-US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4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403083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Класи (</a:t>
            </a:r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class):</a:t>
            </a:r>
          </a:p>
          <a:p>
            <a:pPr algn="l">
              <a:buFont typeface="+mj-lt"/>
              <a:buAutoNum type="arabicPeriod"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Спосіб зберігання в пам'яті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Класи є </a:t>
            </a: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типом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посилання(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reference type).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Екземпляри класів зберігаються в купі пам'яті (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heap).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При створенні екземпляру класу, пам'ять виділяється в залежності від об'єму даних та часу життя.</a:t>
            </a:r>
          </a:p>
          <a:p>
            <a:pPr algn="l">
              <a:buFont typeface="+mj-lt"/>
              <a:buAutoNum type="arabicPeriod"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Передача параметрів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При передачі класу в якості параметра в метод або функцію, передається </a:t>
            </a: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посилання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на екземпляр класу, а не сам екземпляр.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Це означає, що зміни в об'єкті, переданому в метод, впливають на оригінальний об'єкт.</a:t>
            </a:r>
          </a:p>
          <a:p>
            <a:pPr algn="l">
              <a:buFont typeface="+mj-lt"/>
              <a:buAutoNum type="arabicPeriod"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Наслідування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Класи підтримують </a:t>
            </a: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успадкування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(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inheritance),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тобто можуть мати базові класи і похідні класи.</a:t>
            </a:r>
          </a:p>
          <a:p>
            <a:pPr algn="l">
              <a:buFont typeface="+mj-lt"/>
              <a:buAutoNum type="arabicPeriod"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Використання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Використовуються для представлення </a:t>
            </a: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складних об'єктів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з багатьма властивостями і методами.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Зазвичай використовуються для моделювання реальних об'єктів (наприклад, людей, автомобілів, замовлень тощо).</a:t>
            </a:r>
          </a:p>
          <a:p>
            <a:pPr algn="l"/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Структури (</a:t>
            </a:r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struct):</a:t>
            </a:r>
          </a:p>
          <a:p>
            <a:pPr algn="l">
              <a:buFont typeface="+mj-lt"/>
              <a:buAutoNum type="arabicPeriod"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Спосіб зберігання в пам'яті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Структури є </a:t>
            </a: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значимим типом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(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value type).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Екземпляри структур зберігаються безпосередньо в стеку пам'яті (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stack).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Пам'ять виділяється безпосередньо для самого об'єкта.</a:t>
            </a:r>
          </a:p>
          <a:p>
            <a:pPr algn="l">
              <a:buFont typeface="+mj-lt"/>
              <a:buAutoNum type="arabicPeriod"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Передача параметрів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При передачі структури в якості параметра в метод або функцію, передається </a:t>
            </a: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копія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структури, а не посилання на неї.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Це означає, що будь-які зміни в структурі впливають тільки на копію, а не на оригінал.</a:t>
            </a:r>
          </a:p>
          <a:p>
            <a:pPr algn="l">
              <a:buFont typeface="+mj-lt"/>
              <a:buAutoNum type="arabicPeriod"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Успадкування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Структури не підтримують успадкування (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inheritance).</a:t>
            </a:r>
          </a:p>
          <a:p>
            <a:pPr algn="l">
              <a:buFont typeface="+mj-lt"/>
              <a:buAutoNum type="arabicPeriod"/>
            </a:pP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Використання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Використовуються для представлення </a:t>
            </a:r>
            <a:r>
              <a:rPr lang="uk-UA" b="1" i="0" u="none" strike="noStrike" dirty="0">
                <a:solidFill>
                  <a:srgbClr val="ECECEC"/>
                </a:solidFill>
                <a:effectLst/>
                <a:latin typeface="Söhne"/>
              </a:rPr>
              <a:t>простих даних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 з декількома властивостями.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Часто використовуються для оптимізації пам'яті, особливо коли структури мають невеликий розмір.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Добре підходять для представлення значень, таких як координати, дата, час тощо.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5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42274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02AF3-7A37-60FD-D4F1-F67F6F1CC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C0F0F-1EF0-6AF2-DD24-B356F76DE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07D75-E252-082C-EA41-9FC30189B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/>
              <a:t>Індексатори дозволяють звертатися до об'єкта класу так само, як до елемента масиву, використовуючи квадратні дужки </a:t>
            </a:r>
            <a:r>
              <a:rPr lang="uk-UA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uk-UA"/>
              <a:t>.</a:t>
            </a:r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B60AB-B077-7961-D414-8EE901F9BB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6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827001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7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457804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8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7807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EF03-D175-672D-C67B-384DA7F3B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846C7-3A60-A92D-924F-80FABD230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5AA43-5B97-9B56-6E13-EBC57F54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65810-11E9-CAE5-A716-77311F7A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8DEF6-9442-31FF-978B-BDD33EA1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39723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FD83-8FD0-BE47-FA46-CA2D8A89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2D8DA-A9D8-CF11-A993-290BEA8D6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6D745-0DB6-3180-E732-D4B7B236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BFF62-578D-6FF5-1E16-479E43AB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CF038-ADDE-54EB-ECF8-FF87EA69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12411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3020-BEA4-1CAA-8DA3-474E84DC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FDC83-BF32-BF97-9FA7-59BEDBA24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B1D6C-E414-490C-4ECC-D3E70340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ABBF5-6F88-61BF-2098-BF4D84D1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65EAF-BA42-3F42-8553-C9F8EF4C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85119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02BD-9F5C-B997-C939-C86FE9CE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48781-B249-7B89-7AD2-9C27F1538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D9CE1-E8AD-FD30-E3EB-4ED5C2A4B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EFF02-E547-C301-1AC9-14E2F238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24.02.2026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8D0DB-B23F-1067-8219-C2FD40B7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145C3-EBC2-DA63-F6D4-9068BE91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2096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A185-CA0B-51FD-4506-CD6B0586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4D89B-37E8-DDE3-52E3-E16CE0C0C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F717E-2112-230E-E169-083F6F858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D528E-BAE2-5910-80CE-990E4C6B4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C4CAB3-3092-8C0A-6A31-C199C7114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67FA8-F662-2BAE-CA7B-F23DD684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24.02.2026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9377B-5B5B-2CE3-73BA-ECC48E59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E9D97-BBC9-C2F7-6D66-6D320A4A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882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9FF9-177C-E894-FC53-528B0DEA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F98B15-D80B-94C8-AFAB-DB4949BA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24.02.2026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D25C0-696E-BA5A-2C42-D4610877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A8421-1EBF-F14F-599C-B0AE632C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4396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BD585-5ADC-575F-E2A4-6F32744C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24.02.2026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03353-985A-96EC-FFA9-BCFA3A2D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358F3-742E-AF7F-B2A7-B1A5B842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1831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82D4-BFEC-6436-81F2-9080B9E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CBA0B-BCA9-303C-E912-5C931251B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3233F-01D2-4649-B8F6-0B7453A7E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F6DE8-1A8E-4802-52D4-382C0744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24.02.2026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872DF-E626-5EC1-7885-D2D51259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9C3B7-0F4A-8841-4D3E-6102778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11309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7C4E-AE86-F883-0B0E-E14C58C7F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F3B91-F5B2-3CF5-5607-55841B93F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44425-2EB9-6F8F-7540-3D713CE4B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A1CDC-A95E-648D-A9D1-44E71617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24.02.2026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911F9-603B-92F7-9E75-B90706AD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001B2-C113-00F5-7144-ACE0E338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69377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6783-95E1-0761-609C-B533B266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511D9-6FB4-13A2-DBB7-2347D776C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3C9F-C307-AECE-82FB-1F0244F4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25C1E-BB6C-A70B-C727-EBC870C7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6285-0344-16ED-A119-2BB926DE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3379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2800D-F023-15B6-AAF1-8A3869B96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CCD29-EE8D-A3B8-1B6D-456FC9B73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40D8-E351-5C23-7A7F-6EAC6002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70253-2D54-CE1C-CA8D-A921962B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44E1E-D330-6F12-F55B-FC707E5B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92126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8C01-C537-CBA0-A081-ED4EFF028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B52BC-FB99-7F1C-8001-6CA95B102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C128-4DC0-D802-E18E-B90917CB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C3D-CAFD-3D4F-B164-06B104048945}" type="datetime1">
              <a:rPr lang="en-US" smtClean="0"/>
              <a:t>2/24/26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54729-B83D-6E5C-B81C-22C2A925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1E50-2CA7-4496-CB41-9519D3A0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816433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25ED-3B3A-23A0-B54B-F44C7BD3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6DE6-7CA7-5632-36A8-B840E8E8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A0904-D05C-0AA6-C49A-97536129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085A-5938-CE4B-9DF4-CF315E93FC1E}" type="datetime1">
              <a:rPr lang="en-US" smtClean="0"/>
              <a:t>2/24/26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859E-3DE3-DF55-1F6A-86C3AE55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5522-42A5-41A2-FB3C-6CC8FCE8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93436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8F1D-9CD4-39D8-9913-79D452A2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ED8C9-776D-2DE5-5597-515E48FCF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1395F-435D-23E0-85F2-74319CFC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BB565-B15F-284C-917B-D03BDAFB25D0}" type="datetime1">
              <a:rPr lang="en-US" smtClean="0"/>
              <a:t>2/24/26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C1888-8C2A-E741-DA04-1797B019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A543-1617-D8B9-5779-8B7C82B8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27677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FDC2-ADAE-6DE7-8C6B-FB3F63F8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B919-D8D8-DAE8-D427-2D8087BE4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BBBF0-648A-1E51-8C28-FE2EA6BBC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6486F-C461-ECB9-78AE-1CBA3E04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2025-B6A1-9A42-B0F8-54D8E9CA33F0}" type="datetime1">
              <a:rPr lang="en-US" smtClean="0"/>
              <a:t>2/24/26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E57A9-DE4E-65AA-2309-EC6B7621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18506-BA1E-A381-C15F-D9105B4F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85045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E089-4385-EE25-CD1F-69CDB384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01C7-DC9E-A5EF-5568-FC862234B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2522-3D41-A899-530F-ACAAA9F9D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7D045-2CE3-B158-56D7-1DDEF30AC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C2A4E-DCD8-69CF-3E9A-AD85E5654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6D8E9-F351-D4A9-2445-A7C9BC40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1047-CBD3-5D46-8C70-BACF11EDAC19}" type="datetime1">
              <a:rPr lang="en-US" smtClean="0"/>
              <a:t>2/24/26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469BB-0FB8-1E63-C96F-1E58E9C8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FBB5F-D214-D2E4-8203-E46EBF59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46154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BA2-1F26-AC79-05BA-2A268A11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D1EE5-65EB-56B6-6E8D-55E6DD2D4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BE73-5F61-BF4E-A2AA-B0D4E0CA154F}" type="datetime1">
              <a:rPr lang="en-US" smtClean="0"/>
              <a:t>2/24/26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D8161-A087-21E6-4803-8EFD88D5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DE6DA-62D2-3B4C-B330-4FADC553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63825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7ED26-3B72-B03E-3F68-435E4E7E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D9CC5-2BD8-044A-99D8-C593C8281B02}" type="datetime1">
              <a:rPr lang="en-US" smtClean="0"/>
              <a:t>2/24/26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78B6E-051C-9F02-EC68-B0C58F73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CC148-7C52-505E-25EB-BA68B9BB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093313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8571-9CEF-EF34-C125-0B3AD199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2483-46A7-77A6-675B-5B5BA300A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38D8-AAB1-0068-F7A3-A611A1E40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11A91-3ED2-8427-A331-2EDE5977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8E76-BC7F-524A-A345-2A48A76CADCF}" type="datetime1">
              <a:rPr lang="en-US" smtClean="0"/>
              <a:t>2/24/26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A088A-4BD8-B9FB-B8A2-6A20BCED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F12D4-8946-36CB-FCA6-564D6EDA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17850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3961-C38B-E36F-4575-DDABF672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2C4FF-53AD-5261-33A1-273CD419A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639EF-1831-4AD8-9D6E-50D896C29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8694D-7DAE-5229-CFD2-2E790AE1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B7C3-7324-CC42-89F0-693CC2798C1F}" type="datetime1">
              <a:rPr lang="en-US" smtClean="0"/>
              <a:t>2/24/26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9055-AC9C-5AB2-7BFF-6C3DD72F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B0EDB-46AB-BFEA-DC00-46E1BA59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032561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E05F-12EF-9CA7-087B-FF47E577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18DF5-1B73-7896-CF93-A88C022A9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BAADB-8F77-EEBA-35CC-68A86748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3E6D-5DFB-0D40-A92C-D12944788CE4}" type="datetime1">
              <a:rPr lang="en-US" smtClean="0"/>
              <a:t>2/24/26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EC63A-9987-FC6C-69DC-E60DFC3A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714D-C848-B40C-7246-383D0221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903855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E898F-B762-5861-030B-08A3881F9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F8BBF-BADD-0361-A41B-D28639BEB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CA3C7-6175-D8C4-EB97-255147CF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44117-F71E-5048-A23E-D71DDF755124}" type="datetime1">
              <a:rPr lang="en-US" smtClean="0"/>
              <a:t>2/24/26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FA1A-A85A-AF57-69F0-93EDB449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618E-A3C5-A411-5BE9-E871E4F7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374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693A4-3C53-B7B0-CF62-11883ABC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D9CE9-81D4-4768-B915-962C3AFCB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02B8E-B51A-DEDA-6E56-90B90539B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E5275-D3E6-A44F-9925-47DEA318869C}" type="datetimeFigureOut">
              <a:rPr lang="en-UA" smtClean="0"/>
              <a:t>24.02.2026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856E8-6279-A6E4-EC10-72D79B74B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E6504-4B73-2BC6-0122-58A630273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5005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E8BD0-45EB-29FE-3F01-E0953497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12B60-92A6-5D3C-73A3-955A9F96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E7ED2-1692-1E41-C7FC-B8C2935ED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5BD5-9148-6841-BAD7-3A240BDC256D}" type="datetime1">
              <a:rPr lang="en-US" smtClean="0"/>
              <a:t>2/24/26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E31E-86DE-E102-1D79-5CD1C2D51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B78FE-8BE8-75E7-1610-755174104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3695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2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C0C7-437D-CC26-CAC4-C7FBC74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6" y="2566114"/>
            <a:ext cx="9247254" cy="2289259"/>
          </a:xfrm>
        </p:spPr>
        <p:txBody>
          <a:bodyPr>
            <a:noAutofit/>
          </a:bodyPr>
          <a:lstStyle/>
          <a:p>
            <a:pPr algn="ctr"/>
            <a:r>
              <a:rPr lang="uk-UA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Операції мови </a:t>
            </a:r>
            <a:r>
              <a:rPr lang="en-US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C#: is, as, </a:t>
            </a:r>
            <a:r>
              <a:rPr lang="uk-UA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поглинання </a:t>
            </a:r>
            <a:r>
              <a:rPr lang="en-US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null </a:t>
            </a:r>
            <a:r>
              <a:rPr lang="uk-UA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та інші спеціальні операції. Перетворення типів. Перевірка рівності об’єктів. Перевантаження операцій. Методи-індексатори.</a:t>
            </a:r>
            <a:endParaRPr lang="uk-UA" sz="3200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2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E50CA5-07B0-8312-B2A5-14EC91DFCCB5}"/>
              </a:ext>
            </a:extLst>
          </p:cNvPr>
          <p:cNvSpPr txBox="1"/>
          <p:nvPr/>
        </p:nvSpPr>
        <p:spPr>
          <a:xfrm>
            <a:off x="2676305" y="233211"/>
            <a:ext cx="8214637" cy="1660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МІНІСТЕРСТВО ОСВІТИ І НАУКИ УКРАЇНИ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ЛЬВІВСЬКИЙ НАЦІОНАЛЬНИЙ УНІВЕРСИТЕТ ІМЕНІ ІВАНА ФРАНКА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sz="2000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Факультет прикладної математики та інформатики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(повне найменування назва факультету) </a:t>
            </a:r>
          </a:p>
          <a:p>
            <a:pPr algn="ctr"/>
            <a:r>
              <a:rPr lang="uk-UA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Кафедра дискретного аналізу та інтелектуальних систем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(повна назва кафедри)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26903-4104-998E-F8C8-8EF770480562}"/>
              </a:ext>
            </a:extLst>
          </p:cNvPr>
          <p:cNvSpPr txBox="1"/>
          <p:nvPr/>
        </p:nvSpPr>
        <p:spPr>
          <a:xfrm>
            <a:off x="5937941" y="6022547"/>
            <a:ext cx="1691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Львів – 202</a:t>
            </a:r>
            <a:r>
              <a:rPr lang="en-US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6</a:t>
            </a:r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7627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2335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Операції мови </a:t>
            </a:r>
            <a:r>
              <a:rPr lang="en-US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C#: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BFAE71-ABC9-6A68-284A-600753CBE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9834" y="1813643"/>
            <a:ext cx="7772400" cy="14292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266D77-4674-96F2-2739-A46D826FD8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9834" y="3615087"/>
            <a:ext cx="7772400" cy="169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4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2335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Операції мови </a:t>
            </a:r>
            <a:r>
              <a:rPr lang="en-US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C#: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09CCD8-F849-490A-17F4-792878DAC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200" y="1618380"/>
            <a:ext cx="7772400" cy="8596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3B0D66-4E1F-43A6-D2CC-4FB5A28B0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0200" y="2813727"/>
            <a:ext cx="7772400" cy="8583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C0C05E-2021-BC43-5A85-D1B4DFD02A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0200" y="4007773"/>
            <a:ext cx="7772400" cy="8675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AD6FFC-B765-4206-CE37-F9EE941773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200" y="5210953"/>
            <a:ext cx="7772400" cy="141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37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5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342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Перевантаження операцій:</a:t>
            </a:r>
          </a:p>
        </p:txBody>
      </p: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71C3774-8B19-7263-85B8-A73BECC84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086" y="2330450"/>
            <a:ext cx="75565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1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7D877-6920-163A-F114-4A1563DB9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74D45A-893A-C30B-FA3A-B70AD9695208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659500-02A9-FB59-5CEB-DF7B576D64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74CEA-9E39-20E1-36F6-6C54BACB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6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A6C9DE-AE0C-B6CB-2B29-1C9D68A5D3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7EA74C-6642-F564-BB5F-8AB45850FEF3}"/>
              </a:ext>
            </a:extLst>
          </p:cNvPr>
          <p:cNvSpPr txBox="1"/>
          <p:nvPr/>
        </p:nvSpPr>
        <p:spPr>
          <a:xfrm>
            <a:off x="2083981" y="694563"/>
            <a:ext cx="267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Методи-індексатори</a:t>
            </a:r>
          </a:p>
        </p:txBody>
      </p:sp>
      <p:pic>
        <p:nvPicPr>
          <p:cNvPr id="7" name="Picture 6" descr="A computer screen with text and images&#10;&#10;AI-generated content may be incorrect.">
            <a:extLst>
              <a:ext uri="{FF2B5EF4-FFF2-40B4-BE49-F238E27FC236}">
                <a16:creationId xmlns:a16="http://schemas.microsoft.com/office/drawing/2014/main" id="{C74B5ADB-519E-04CF-F560-0660AEEF4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244" y="1872996"/>
            <a:ext cx="56007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45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Питання?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29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17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10130</TotalTime>
  <Words>450</Words>
  <Application>Microsoft Macintosh PowerPoint</Application>
  <PresentationFormat>Widescreen</PresentationFormat>
  <Paragraphs>69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Söhne</vt:lpstr>
      <vt:lpstr>Times New Roman</vt:lpstr>
      <vt:lpstr>Office Theme</vt:lpstr>
      <vt:lpstr>1_Office Theme</vt:lpstr>
      <vt:lpstr>PowerPoint Presentation</vt:lpstr>
      <vt:lpstr>Операції мови C#: is, as, поглинання null та інші спеціальні операції. Перетворення типів. Перевірка рівності об’єктів. Перевантаження операцій. Методи-індексатори.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Orest Onyshchenko</dc:creator>
  <cp:lastModifiedBy>Орест Онищенко</cp:lastModifiedBy>
  <cp:revision>5</cp:revision>
  <dcterms:created xsi:type="dcterms:W3CDTF">2024-01-23T17:14:06Z</dcterms:created>
  <dcterms:modified xsi:type="dcterms:W3CDTF">2026-02-24T06:42:43Z</dcterms:modified>
</cp:coreProperties>
</file>