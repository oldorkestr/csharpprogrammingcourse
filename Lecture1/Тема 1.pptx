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76" r:id="rId3"/>
    <p:sldId id="258" r:id="rId4"/>
    <p:sldId id="277" r:id="rId5"/>
    <p:sldId id="281" r:id="rId6"/>
    <p:sldId id="282" r:id="rId7"/>
    <p:sldId id="280" r:id="rId8"/>
    <p:sldId id="278" r:id="rId9"/>
    <p:sldId id="284" r:id="rId10"/>
    <p:sldId id="283" r:id="rId11"/>
    <p:sldId id="287" r:id="rId12"/>
    <p:sldId id="288" r:id="rId13"/>
    <p:sldId id="274" r:id="rId14"/>
    <p:sldId id="285" r:id="rId1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2"/>
    <p:restoredTop sz="94708"/>
  </p:normalViewPr>
  <p:slideViewPr>
    <p:cSldViewPr snapToGrid="0">
      <p:cViewPr varScale="1">
        <p:scale>
          <a:sx n="103" d="100"/>
          <a:sy n="103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3CE6D-C083-844C-A2BA-F9925CEEB559}" type="datetimeFigureOut">
              <a:rPr lang="en-UA" smtClean="0"/>
              <a:t>29.01.2026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3CFCC-09C0-F543-A8D0-D0C78E9DEA0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2757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8427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6021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4580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9985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02095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52193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59063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11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27285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30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703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179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308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588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17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360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052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730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887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6257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44462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1482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73747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1/29/26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10432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1/29/26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79068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1/29/26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47433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1/29/26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95572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1/29/26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638251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1/29/26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37596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10407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750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F0B57-8E6A-4005-9EDD-D258F6CC94AB}" type="datetimeFigureOut">
              <a:rPr lang="uk-UA" smtClean="0"/>
              <a:t>29.01.26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18C70-803E-428A-BAB3-289BE172EF8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1/29/26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5001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Тема 1: Основи мови програмування С</a:t>
            </a:r>
            <a:r>
              <a:rPr lang="en-US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#</a:t>
            </a:r>
            <a:br>
              <a:rPr lang="uk-UA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br>
              <a:rPr lang="en-US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r>
              <a:rPr lang="uk-UA" sz="20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Вбудовані типи/Масиви/</a:t>
            </a:r>
            <a:r>
              <a:rPr lang="uk-UA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Алгоритми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56389"/>
            <a:ext cx="821463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AA154-7F43-06C2-70CD-023D02CEE27A}"/>
              </a:ext>
            </a:extLst>
          </p:cNvPr>
          <p:cNvSpPr txBox="1"/>
          <p:nvPr/>
        </p:nvSpPr>
        <p:spPr>
          <a:xfrm>
            <a:off x="9932276" y="6022547"/>
            <a:ext cx="1804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latin typeface="Century Gothic" panose="020B0502020202020204" pitchFamily="34" charset="0"/>
              </a:rPr>
              <a:t>Онищенко О.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.NET Framework</a:t>
            </a:r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</a:t>
            </a:r>
            <a:endParaRPr lang="en-US" b="1" i="0" u="none" strike="noStrike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42080-C695-AC0C-5370-F08FACFC8E52}"/>
              </a:ext>
            </a:extLst>
          </p:cNvPr>
          <p:cNvSpPr txBox="1"/>
          <p:nvPr/>
        </p:nvSpPr>
        <p:spPr>
          <a:xfrm>
            <a:off x="2083981" y="1525247"/>
            <a:ext cx="55613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C# — 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це універсальна, 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типобезпечна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, об'єктно-орієнтована мова програмування. Метою мови є продуктивність програміста. Для цього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C# 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поєднує простоту, виразність та продуктивність. Головним архітектором мови з моменту її першої версії є 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Андерс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Хейлсберг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 (творець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Turbo Pascal 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та архітектор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Delphi).</a:t>
            </a:r>
          </a:p>
          <a:p>
            <a:pPr algn="just"/>
            <a:endParaRPr lang="uk-UA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Мова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C# 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є 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платформно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-нейтральною та працює з низкою 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платформно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-специфічних середовищ виконання.</a:t>
            </a:r>
          </a:p>
        </p:txBody>
      </p:sp>
      <p:pic>
        <p:nvPicPr>
          <p:cNvPr id="7" name="Picture 6" descr="A close up of a bird&#10;&#10;AI-generated content may be incorrect.">
            <a:extLst>
              <a:ext uri="{FF2B5EF4-FFF2-40B4-BE49-F238E27FC236}">
                <a16:creationId xmlns:a16="http://schemas.microsoft.com/office/drawing/2014/main" id="{60EECE22-5EAD-CAF6-1E9F-E22B2B721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533" y="1924428"/>
            <a:ext cx="2636971" cy="26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717F55-E3EE-37EA-B9FD-7683C97C7E09}"/>
              </a:ext>
            </a:extLst>
          </p:cNvPr>
          <p:cNvSpPr txBox="1"/>
          <p:nvPr/>
        </p:nvSpPr>
        <p:spPr>
          <a:xfrm>
            <a:off x="2209800" y="509897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Система типів та операції мови 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DBF85-D956-B5EE-ED70-EA3DDBAAFDF2}"/>
              </a:ext>
            </a:extLst>
          </p:cNvPr>
          <p:cNvSpPr txBox="1"/>
          <p:nvPr/>
        </p:nvSpPr>
        <p:spPr>
          <a:xfrm>
            <a:off x="2209800" y="1443841"/>
            <a:ext cx="36865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є статично типізованою мовою програмування, що означає, що тип кожної змінної визначається в час компіляції. Операції, які можна виконувати з даними, визначені для кожного типу. Наприклад, для </a:t>
            </a:r>
            <a:r>
              <a:rPr lang="uk-UA" b="0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цілочисельних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типів можна виконувати арифметичні операції, а для рядків - операції конкатенації та порівняння.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introduction to data types in C#, intro to data types in C#, basics of data types in C#">
            <a:extLst>
              <a:ext uri="{FF2B5EF4-FFF2-40B4-BE49-F238E27FC236}">
                <a16:creationId xmlns:a16="http://schemas.microsoft.com/office/drawing/2014/main" id="{2396EA0D-7FD5-E512-D4BE-ABEE8938F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428" y="1486635"/>
            <a:ext cx="5684970" cy="388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43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05B21-F459-812F-04DB-3D31DDA69FA0}"/>
              </a:ext>
            </a:extLst>
          </p:cNvPr>
          <p:cNvSpPr txBox="1"/>
          <p:nvPr/>
        </p:nvSpPr>
        <p:spPr>
          <a:xfrm>
            <a:off x="1862818" y="694563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Типи-значення та типи-посилання в </a:t>
            </a:r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  <a:endParaRPr lang="en-UA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718D2-8643-BF22-8F6E-26E56CCCA3A5}"/>
              </a:ext>
            </a:extLst>
          </p:cNvPr>
          <p:cNvSpPr txBox="1"/>
          <p:nvPr/>
        </p:nvSpPr>
        <p:spPr>
          <a:xfrm>
            <a:off x="1862818" y="1391316"/>
            <a:ext cx="10057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існують два основних типи даних: типи-значення і типи-посилання. Типи-значення, такі як цілі числа або структури, зберігають свої значення прямо в пам'яті. Типи-посилання, такі як класи або делегати, зберігають посилання на об'єкт в пам'яті.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D2111-3769-3C4C-547E-657B539387EB}"/>
              </a:ext>
            </a:extLst>
          </p:cNvPr>
          <p:cNvSpPr txBox="1"/>
          <p:nvPr/>
        </p:nvSpPr>
        <p:spPr>
          <a:xfrm>
            <a:off x="1862818" y="2504250"/>
            <a:ext cx="39388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uk-UA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Вміст змінної або константи типу значення — це просто значення. Наприклад, вміст вбудованого типу значення </a:t>
            </a:r>
            <a:r>
              <a:rPr lang="en-US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int </a:t>
            </a:r>
            <a:r>
              <a:rPr lang="uk-UA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становить 32 біти даних.</a:t>
            </a:r>
          </a:p>
        </p:txBody>
      </p:sp>
      <p:pic>
        <p:nvPicPr>
          <p:cNvPr id="11" name="Picture 10" descr="A diagram of a square with a dotted line&#10;&#10;AI-generated content may be incorrect.">
            <a:extLst>
              <a:ext uri="{FF2B5EF4-FFF2-40B4-BE49-F238E27FC236}">
                <a16:creationId xmlns:a16="http://schemas.microsoft.com/office/drawing/2014/main" id="{617F86EE-AC53-0A21-8DB5-D19C13F77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282" y="2811114"/>
            <a:ext cx="2374900" cy="86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9E119E-6D65-2C3D-9FB4-F7EDA297D871}"/>
              </a:ext>
            </a:extLst>
          </p:cNvPr>
          <p:cNvSpPr txBox="1"/>
          <p:nvPr/>
        </p:nvSpPr>
        <p:spPr>
          <a:xfrm>
            <a:off x="1868260" y="4184827"/>
            <a:ext cx="52892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A" dirty="0">
                <a:solidFill>
                  <a:srgbClr val="002060"/>
                </a:solidFill>
                <a:latin typeface="Century Gothic" panose="020B0502020202020204" pitchFamily="34" charset="0"/>
              </a:rPr>
              <a:t>Тип посилання є складнішим за тип значення, оскільки він має дві частини: об'єкт та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A" dirty="0">
                <a:solidFill>
                  <a:srgbClr val="002060"/>
                </a:solidFill>
                <a:latin typeface="Century Gothic" panose="020B0502020202020204" pitchFamily="34" charset="0"/>
              </a:rPr>
              <a:t>посилання на цей об'єкт. Вміст змінної або константи типу посилання – це</a:t>
            </a:r>
          </a:p>
          <a:p>
            <a:pPr algn="just"/>
            <a:r>
              <a:rPr lang="en-UA" dirty="0">
                <a:solidFill>
                  <a:srgbClr val="002060"/>
                </a:solidFill>
                <a:latin typeface="Century Gothic" panose="020B0502020202020204" pitchFamily="34" charset="0"/>
              </a:rPr>
              <a:t>посилання на об'єкт, який містить значення. Ось тип Point з нашого</a:t>
            </a:r>
          </a:p>
          <a:p>
            <a:pPr algn="just"/>
            <a:r>
              <a:rPr lang="en-UA" dirty="0">
                <a:solidFill>
                  <a:srgbClr val="002060"/>
                </a:solidFill>
                <a:latin typeface="Century Gothic" panose="020B0502020202020204" pitchFamily="34" charset="0"/>
              </a:rPr>
              <a:t>попереднього прикладу, переписаний як клас, а не як структура</a:t>
            </a:r>
          </a:p>
        </p:txBody>
      </p:sp>
      <p:pic>
        <p:nvPicPr>
          <p:cNvPr id="15" name="Picture 14" descr="A diagram of a function&#10;&#10;AI-generated content may be incorrect.">
            <a:extLst>
              <a:ext uri="{FF2B5EF4-FFF2-40B4-BE49-F238E27FC236}">
                <a16:creationId xmlns:a16="http://schemas.microsoft.com/office/drawing/2014/main" id="{FC65DE5C-CD37-1F33-43B5-3A323428DF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870" y="4279116"/>
            <a:ext cx="3809640" cy="163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8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Консольне введення-виведення:</a:t>
            </a:r>
            <a:endParaRPr lang="uk-UA" i="0" u="none" strike="noStrike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F6CF3-366A-1693-B9E6-7D4E94708EA1}"/>
              </a:ext>
            </a:extLst>
          </p:cNvPr>
          <p:cNvSpPr txBox="1"/>
          <p:nvPr/>
        </p:nvSpPr>
        <p:spPr>
          <a:xfrm>
            <a:off x="2083981" y="1525247"/>
            <a:ext cx="94984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Консольне введення-виведення використовується для взаємодії з користувачем через консольне вікно. Наприклад, команда </a:t>
            </a:r>
            <a:r>
              <a:rPr lang="en-US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Console.WriteLine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("Hello, world!");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виведе рядок "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Hello, world!"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на консоль. Для отримання введених даних використовується метод </a:t>
            </a:r>
            <a:r>
              <a:rPr lang="en-US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Console.ReadLine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()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B24F99C-8E2E-ABE7-8F66-997286A7D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040" y="3242914"/>
            <a:ext cx="64643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2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Конструкції керування мови </a:t>
            </a:r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  <a:endParaRPr lang="uk-UA" i="0" u="none" strike="noStrike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B562E-4E40-A165-4E0A-727F227893B2}"/>
              </a:ext>
            </a:extLst>
          </p:cNvPr>
          <p:cNvSpPr txBox="1"/>
          <p:nvPr/>
        </p:nvSpPr>
        <p:spPr>
          <a:xfrm>
            <a:off x="2083981" y="1630656"/>
            <a:ext cx="9313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Мова 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має різноманітні конструкції керування, такі як умовні оператори (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if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else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),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цикли (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for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while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do-while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),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конструкції вибору (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switch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). </a:t>
            </a:r>
            <a:r>
              <a:rPr lang="uk-UA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Ці конструкції дозволяють створювати різноманітні логічні блоки у програмі.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11EA890-A0E7-442E-EDBC-FA5A0473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119" y="2553986"/>
            <a:ext cx="65659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1965359" y="694563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Масиви в </a:t>
            </a:r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  <a:endParaRPr lang="uk-UA" i="0" u="none" strike="noStrike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D8213-5A7C-1D39-C6C1-3D25B45A331D}"/>
              </a:ext>
            </a:extLst>
          </p:cNvPr>
          <p:cNvSpPr txBox="1"/>
          <p:nvPr/>
        </p:nvSpPr>
        <p:spPr>
          <a:xfrm>
            <a:off x="1965359" y="1228636"/>
            <a:ext cx="98782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Масив - це структура даних, яка дозволяє зберігати кілька значень одного типу у впорядкованій послідовності. В 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існують одновимірні, багатовимірні та зубчасті масиви. Наприклад:</a:t>
            </a:r>
            <a:endParaRPr lang="en-UA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6068145A-6EB5-98F0-13B7-B3E5565DFE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08" y="2384669"/>
            <a:ext cx="4267200" cy="635000"/>
          </a:xfrm>
          <a:prstGeom prst="rect">
            <a:avLst/>
          </a:prstGeom>
        </p:spPr>
      </p:pic>
      <p:pic>
        <p:nvPicPr>
          <p:cNvPr id="12" name="Picture 11" descr="A black screen with green and blue text&#10;&#10;AI-generated content may be incorrect.">
            <a:extLst>
              <a:ext uri="{FF2B5EF4-FFF2-40B4-BE49-F238E27FC236}">
                <a16:creationId xmlns:a16="http://schemas.microsoft.com/office/drawing/2014/main" id="{6A74A44A-6740-6C03-E7A9-66FA317C3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"/>
          <a:stretch>
            <a:fillRect/>
          </a:stretch>
        </p:blipFill>
        <p:spPr>
          <a:xfrm>
            <a:off x="2637308" y="3020498"/>
            <a:ext cx="5341379" cy="1701800"/>
          </a:xfrm>
          <a:prstGeom prst="rect">
            <a:avLst/>
          </a:prstGeom>
        </p:spPr>
      </p:pic>
      <p:pic>
        <p:nvPicPr>
          <p:cNvPr id="15" name="Picture 1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8948B41-8A08-8E5D-73BD-273D378AE4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08" y="4690079"/>
            <a:ext cx="46990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6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928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Побудова консольних програм в середовищі </a:t>
            </a:r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Visual Studio </a:t>
            </a:r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засобами мови </a:t>
            </a:r>
            <a:r>
              <a:rPr lang="en-US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3F146-4296-60ED-55CE-1CC9394529E7}"/>
              </a:ext>
            </a:extLst>
          </p:cNvPr>
          <p:cNvSpPr txBox="1"/>
          <p:nvPr/>
        </p:nvSpPr>
        <p:spPr>
          <a:xfrm>
            <a:off x="2083980" y="1120676"/>
            <a:ext cx="89759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Відкрийте 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Visual Studio.</a:t>
            </a:r>
          </a:p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Оберіть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Create a new project"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або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File" -&gt; "New" -&gt; "Project".</a:t>
            </a:r>
          </a:p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Оберіть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Console App (.NET Framework)"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або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Console App (.NET Core)".</a:t>
            </a:r>
          </a:p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Введіть ім'я проекту та оберіть місце збереження.</a:t>
            </a:r>
          </a:p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Натисніть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Create"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або "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OK".</a:t>
            </a:r>
          </a:p>
          <a:p>
            <a:pPr algn="l">
              <a:buFont typeface="+mj-lt"/>
              <a:buAutoNum type="arabicPeriod"/>
            </a:pP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Напишіть свій код у вікні редактора.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59E44-6AD5-EA60-2E3E-FD70ED334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833" y="3242914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86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10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Форматоване</a:t>
            </a:r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виведення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3F146-4296-60ED-55CE-1CC9394529E7}"/>
              </a:ext>
            </a:extLst>
          </p:cNvPr>
          <p:cNvSpPr txBox="1"/>
          <p:nvPr/>
        </p:nvSpPr>
        <p:spPr>
          <a:xfrm>
            <a:off x="2083980" y="1120676"/>
            <a:ext cx="89759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u="none" strike="noStrike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Форматоване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виведення дозволяє виводити дані у визначеному форматі. В мові 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для </a:t>
            </a:r>
            <a:r>
              <a:rPr lang="uk-UA" b="0" i="0" u="none" strike="noStrike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форматованого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виведення зазвичай використовуються методи </a:t>
            </a:r>
            <a:r>
              <a:rPr lang="en-US" err="1">
                <a:solidFill>
                  <a:srgbClr val="002060"/>
                </a:solidFill>
                <a:latin typeface="Century Gothic" panose="020B0502020202020204" pitchFamily="34" charset="0"/>
              </a:rPr>
              <a:t>String.Format</a:t>
            </a:r>
            <a:r>
              <a:rPr lang="en-US">
                <a:solidFill>
                  <a:srgbClr val="002060"/>
                </a:solidFill>
                <a:latin typeface="Century Gothic" panose="020B0502020202020204" pitchFamily="34" charset="0"/>
              </a:rPr>
              <a:t>()</a:t>
            </a:r>
            <a:r>
              <a:rPr lang="en-US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uk-UA" b="0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або інтерполяція рядків.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E98D7-3F11-0460-A210-2F44311C9D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2933700"/>
            <a:ext cx="7772400" cy="264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3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11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928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Послідовні, </a:t>
            </a:r>
            <a:r>
              <a:rPr lang="uk-UA" b="1" i="0" u="none" strike="noStrike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галужені</a:t>
            </a:r>
            <a:r>
              <a:rPr lang="uk-UA" b="1" i="0" u="none" strike="noStrike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циклічні алгоритми з використанням вбудованих типів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FA6CB-C2C8-EF35-8873-C8FDB5E5B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81" y="1208909"/>
            <a:ext cx="7278223" cy="19046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362D16-930C-537C-D8FC-095E5372B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33" y="2199190"/>
            <a:ext cx="6752539" cy="44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2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558</Words>
  <Application>Microsoft Macintosh PowerPoint</Application>
  <PresentationFormat>Widescreen</PresentationFormat>
  <Paragraphs>59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Söhne</vt:lpstr>
      <vt:lpstr>Times New Roman</vt:lpstr>
      <vt:lpstr>Тема Office</vt:lpstr>
      <vt:lpstr>1_Office Theme</vt:lpstr>
      <vt:lpstr>PowerPoint Presentation</vt:lpstr>
      <vt:lpstr>Тема 1: Основи мови програмування С#  Вбудовані типи/Масиви/Алгоритми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/>
  <cp:lastModifiedBy>Орест Онищенко</cp:lastModifiedBy>
  <cp:revision>2</cp:revision>
  <dcterms:created xsi:type="dcterms:W3CDTF">2024-02-13T13:27:17Z</dcterms:created>
  <dcterms:modified xsi:type="dcterms:W3CDTF">2026-01-31T12:57:15Z</dcterms:modified>
</cp:coreProperties>
</file>