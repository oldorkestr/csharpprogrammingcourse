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76" r:id="rId3"/>
    <p:sldId id="258" r:id="rId4"/>
    <p:sldId id="277" r:id="rId5"/>
    <p:sldId id="287" r:id="rId6"/>
    <p:sldId id="290" r:id="rId7"/>
    <p:sldId id="291" r:id="rId8"/>
    <p:sldId id="296" r:id="rId9"/>
    <p:sldId id="288" r:id="rId10"/>
    <p:sldId id="289" r:id="rId11"/>
    <p:sldId id="274" r:id="rId12"/>
    <p:sldId id="285" r:id="rId13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69E4FE-16B0-5145-9D52-0E097BAD7807}" v="9" dt="2026-03-02T19:22:39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9"/>
    <p:restoredTop sz="66335"/>
  </p:normalViewPr>
  <p:slideViewPr>
    <p:cSldViewPr snapToGrid="0">
      <p:cViewPr varScale="1">
        <p:scale>
          <a:sx n="54" d="100"/>
          <a:sy n="54" d="100"/>
        </p:scale>
        <p:origin x="1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5FC23-7EFD-4943-8C13-EDFFF5B207E1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A5CE-A427-B34C-B558-883EB129398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51839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0538-E508-AA47-8A15-B077B91F47AF}" type="slidenum">
              <a:rPr kumimoji="0" lang="en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Означення: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Інтерфейс 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є контрактом, який визначає набір методів або властивостей, які має реалізувати будь-який клас або структура, що </a:t>
            </a:r>
            <a:r>
              <a:rPr lang="uk-UA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імплементує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цей інтерфейс. В інтерфейсах вказується лише сигнатура методів або властивостей без їхньої реалізації.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Можливості використання: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Дозволяють реалізувати поліморфізм.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Дозволяють розділити реалізацію функціональності від визначення специфікації.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Дозволяють використовувати множинне успадкування.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91488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IComparable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Інтерфейс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IComparable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дозволяє об'єктам бути порівнюваними між собою. Клас, який реалізує цей інтерфейс, може використовувати метод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CompareTo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для визначення порівняння.</a:t>
            </a:r>
          </a:p>
          <a:p>
            <a:pPr algn="l"/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IEnumerable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Інтерфейс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IEnumerable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дозволяє об'єктам бути </a:t>
            </a:r>
            <a:r>
              <a:rPr lang="uk-UA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перечислюваними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. Це дозволяє використовувати об'єкт у циклах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foreach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та інших місцях, де потрібно перебрати елементи колекції.</a:t>
            </a:r>
          </a:p>
          <a:p>
            <a:pPr algn="l"/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ICloneable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Інтерфейс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ICloneable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дозволяє створювати копії об'єктів. Клас, який реалізує цей інтерфейс, повинен реалізувати метод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Clone,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який повертає копію поточного об'єкта.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45058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20845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Абстрактний клас</a:t>
            </a:r>
            <a:r>
              <a:rPr lang="uk-UA" dirty="0"/>
              <a:t> — це особливий тип класу, який не можна використовувати для створення об'єктів (екземплярів). Він слугує лише як «шаблон» або «фундамент» для інших класів.</a:t>
            </a:r>
          </a:p>
          <a:p>
            <a:r>
              <a:rPr lang="uk-UA" dirty="0"/>
              <a:t>Уявіть собі креслення «Тварини». Ви не можете зустріти в реальності просто «тварину» — ви зустрінете кота, собаку або слона. Отже, «Тварина» — це абстракція, а «Кіт» — це конкретна реалізація.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90787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BA93-F171-147D-CEF9-9ECC3B9B2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EB145-6A3C-3744-C6C0-38A55FBEF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1A67A-3926-6C2A-107D-19CB5A0F6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Обирайте Абстрактний клас, якщо:</a:t>
            </a:r>
          </a:p>
          <a:p>
            <a:r>
              <a:rPr lang="uk-UA" dirty="0"/>
              <a:t>У вас є група тісно пов'язаних об’єктів, які мають </a:t>
            </a:r>
            <a:r>
              <a:rPr lang="uk-UA" b="1" dirty="0"/>
              <a:t>спільний код</a:t>
            </a:r>
            <a:r>
              <a:rPr lang="uk-UA" dirty="0"/>
              <a:t>.</a:t>
            </a:r>
          </a:p>
          <a:p>
            <a:r>
              <a:rPr lang="uk-UA" i="1" dirty="0"/>
              <a:t>Приклад:</a:t>
            </a:r>
            <a:r>
              <a:rPr lang="uk-UA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Animal</a:t>
            </a:r>
            <a:r>
              <a:rPr lang="en-US" dirty="0"/>
              <a:t> -&gt;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</a:t>
            </a:r>
            <a:r>
              <a:rPr lang="en-US" dirty="0"/>
              <a:t>. </a:t>
            </a:r>
            <a:r>
              <a:rPr lang="uk-UA" dirty="0"/>
              <a:t>У них спільне поле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r>
              <a:rPr lang="en-US" dirty="0"/>
              <a:t> </a:t>
            </a:r>
            <a:r>
              <a:rPr lang="uk-UA" dirty="0"/>
              <a:t>і метод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Eat()</a:t>
            </a:r>
            <a:r>
              <a:rPr lang="en-US" dirty="0"/>
              <a:t>, </a:t>
            </a:r>
            <a:r>
              <a:rPr lang="uk-UA" dirty="0"/>
              <a:t>який однаковий для всіх.</a:t>
            </a:r>
          </a:p>
          <a:p>
            <a:r>
              <a:rPr lang="uk-UA" dirty="0"/>
              <a:t>Ви хочете надати базову функціональність, яку нащадки можуть використовувати або змінювати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</a:t>
            </a:r>
            <a:r>
              <a:rPr lang="en-US" dirty="0"/>
              <a:t> </a:t>
            </a:r>
            <a:r>
              <a:rPr lang="uk-UA" dirty="0"/>
              <a:t>методи).</a:t>
            </a:r>
          </a:p>
          <a:p>
            <a:r>
              <a:rPr lang="uk-UA" dirty="0"/>
              <a:t>Ви плануєте додавати нові методи в майбутньому (додавання методу в абстрактний клас з готовим кодом не зламає нащадків).</a:t>
            </a:r>
          </a:p>
          <a:p>
            <a:r>
              <a:rPr lang="uk-UA" b="1" dirty="0"/>
              <a:t>2. Обирайте Інтерфейс, якщо:</a:t>
            </a:r>
          </a:p>
          <a:p>
            <a:r>
              <a:rPr lang="uk-UA" dirty="0"/>
              <a:t>Ви хочете визначити </a:t>
            </a:r>
            <a:r>
              <a:rPr lang="uk-UA" b="1" dirty="0"/>
              <a:t>контракт</a:t>
            </a:r>
            <a:r>
              <a:rPr lang="uk-UA" dirty="0"/>
              <a:t> для абсолютно різних класів.</a:t>
            </a:r>
          </a:p>
          <a:p>
            <a:r>
              <a:rPr lang="uk-UA" i="1" dirty="0"/>
              <a:t>Приклад:</a:t>
            </a:r>
            <a:r>
              <a:rPr lang="uk-UA" dirty="0"/>
              <a:t> Інтерфейс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IFlyable</a:t>
            </a:r>
            <a:r>
              <a:rPr lang="en-US" dirty="0"/>
              <a:t> (</a:t>
            </a:r>
            <a:r>
              <a:rPr lang="uk-UA" dirty="0"/>
              <a:t>вміє літати) можуть реалізувати і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Bird</a:t>
            </a:r>
            <a:r>
              <a:rPr lang="en-US" dirty="0"/>
              <a:t>, </a:t>
            </a:r>
            <a:r>
              <a:rPr lang="uk-UA" dirty="0"/>
              <a:t>і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Plane</a:t>
            </a:r>
            <a:r>
              <a:rPr lang="en-US" dirty="0"/>
              <a:t>, </a:t>
            </a:r>
            <a:r>
              <a:rPr lang="uk-UA" dirty="0"/>
              <a:t>і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Superhero</a:t>
            </a:r>
            <a:r>
              <a:rPr lang="en-US" dirty="0"/>
              <a:t>. </a:t>
            </a:r>
            <a:r>
              <a:rPr lang="uk-UA" dirty="0"/>
              <a:t>Вони не родичі, але мають спільну здатність.</a:t>
            </a:r>
          </a:p>
          <a:p>
            <a:r>
              <a:rPr lang="uk-UA" dirty="0"/>
              <a:t>Вам потрібне </a:t>
            </a:r>
            <a:r>
              <a:rPr lang="uk-UA" b="1" dirty="0"/>
              <a:t>множинне успадкування</a:t>
            </a:r>
            <a:r>
              <a:rPr lang="uk-UA" dirty="0"/>
              <a:t> поведінки.</a:t>
            </a:r>
          </a:p>
          <a:p>
            <a:r>
              <a:rPr lang="uk-UA" dirty="0"/>
              <a:t>Ви хочете зробити код максимально гнучким для тестування (</a:t>
            </a:r>
            <a:r>
              <a:rPr lang="en-US" dirty="0"/>
              <a:t>Dependency Injection).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C4210-A6C5-4291-1770-16720550E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485581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Абстрактний клас та інтерфейс є двома важливими концепціями в об'єктно-орієнтованому програмуванні, проте вони мають деякі відмінності в своєму призначенні та використанні. Ось основні відмінності між абстрактним класом та інтерфейсом: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Абстрактний клас: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1. Оголошення: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Абстрактний клас може містити як реальні (неперевизначені) методи, так і абстрактні методи, які не мають реалізації.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Може містити властивості, події, індексатори, конструктори та будь-які інші члени класу.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2. Реалізація: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Клас, який успадковує абстрактний клас, повинен реалізувати всі абстрактні методи.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Може мати власні поля та методи, які успадковуються підкласами.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3. Використання: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Абстрактний клас використовується, коли ви хочете надати базову реалізацію для певної групи класів і водночас вимагаєте від нащадків реалізувати певні методи.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4. Однократне успадкування: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Клас може успадковувати тільки один абстрактний клас, але може реалізовувати декілька інтерфейсів.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Інтерфейс: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1. Оголошення: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Інтерфейс містить лише абстрактні методи, властивості, індексатори або події.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Не містить реалізації методів.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2. Реалізація: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Клас, який реалізує інтерфейс, повинен реалізувати всі його методи.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Клас може реалізувати декілька інтерфейсів одночасно.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3. Використання: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Інтерфейс використовується, коли ви хочете задати стандарт для класів без надання реалізації.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Використовується для створення специфікації, яку клас повинен відповідати.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4. Багатократне успадкування: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  - Клас може реалізовувати декілька інтерфейсів одночасно, незалежно від наявності базового класу.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Вибір між абстрактним класом та інтерфейсом: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- Якщо вам потрібно надати реалізацію методів і властивостей: Використовуйте абстрактний клас.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- Якщо вам потрібно лише задати контракт без реалізації: Використовуйте інтерфейс.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- Якщо клас вже успадковує інший клас: Користуйтеся інтерфейсами для реалізації </a:t>
            </a:r>
            <a:r>
              <a:rPr lang="uk-UA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багатоінтерфейсності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Отже, вибір між абстрактним класом та інтерфейсом залежить від того, яка функціональність вам потрібна для вашого проекту та як ви плануєте структурувати вашу систему класів.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23723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9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219233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10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57804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11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7807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EF03-D175-672D-C67B-384DA7F3B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846C7-3A60-A92D-924F-80FABD230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5AA43-5B97-9B56-6E13-EBC57F54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5810-11E9-CAE5-A716-77311F7A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DEF6-9442-31FF-978B-BDD33EA1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9723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FD83-8FD0-BE47-FA46-CA2D8A89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D8DA-A9D8-CF11-A993-290BEA8D6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D745-0DB6-3180-E732-D4B7B236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BFF62-578D-6FF5-1E16-479E43AB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CF038-ADDE-54EB-ECF8-FF87EA69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2411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3020-BEA4-1CAA-8DA3-474E84DC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FDC83-BF32-BF97-9FA7-59BEDBA24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1D6C-E414-490C-4ECC-D3E70340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ABBF5-6F88-61BF-2098-BF4D84D1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5EAF-BA42-3F42-8553-C9F8EF4C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8511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02BD-9F5C-B997-C939-C86FE9CE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48781-B249-7B89-7AD2-9C27F1538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D9CE1-E8AD-FD30-E3EB-4ED5C2A4B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EFF02-E547-C301-1AC9-14E2F238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D0DB-B23F-1067-8219-C2FD40B7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145C3-EBC2-DA63-F6D4-9068BE91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2096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185-CA0B-51FD-4506-CD6B058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4D89B-37E8-DDE3-52E3-E16CE0C0C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F717E-2112-230E-E169-083F6F858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D528E-BAE2-5910-80CE-990E4C6B4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4CAB3-3092-8C0A-6A31-C199C7114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67FA8-F662-2BAE-CA7B-F23DD684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9377B-5B5B-2CE3-73BA-ECC48E5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E9D97-BBC9-C2F7-6D66-6D320A4A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882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9FF9-177C-E894-FC53-528B0DEA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98B15-D80B-94C8-AFAB-DB4949BA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D25C0-696E-BA5A-2C42-D4610877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A8421-1EBF-F14F-599C-B0AE632C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4396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BD585-5ADC-575F-E2A4-6F32744C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03353-985A-96EC-FFA9-BCFA3A2D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358F3-742E-AF7F-B2A7-B1A5B842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1831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82D4-BFEC-6436-81F2-9080B9E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BA0B-BCA9-303C-E912-5C931251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3233F-01D2-4649-B8F6-0B7453A7E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6DE8-1A8E-4802-52D4-382C0744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872DF-E626-5EC1-7885-D2D51259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9C3B7-0F4A-8841-4D3E-6102778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1309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7C4E-AE86-F883-0B0E-E14C58C7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F3B91-F5B2-3CF5-5607-55841B93F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44425-2EB9-6F8F-7540-3D713CE4B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A1CDC-A95E-648D-A9D1-44E71617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911F9-603B-92F7-9E75-B90706AD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01B2-C113-00F5-7144-ACE0E338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9377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6783-95E1-0761-609C-B533B266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511D9-6FB4-13A2-DBB7-2347D776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3C9F-C307-AECE-82FB-1F0244F4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25C1E-BB6C-A70B-C727-EBC870C7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6285-0344-16ED-A119-2BB926DE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3379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2800D-F023-15B6-AAF1-8A3869B96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CCD29-EE8D-A3B8-1B6D-456FC9B73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40D8-E351-5C23-7A7F-6EAC600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70253-2D54-CE1C-CA8D-A921962B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44E1E-D330-6F12-F55B-FC707E5B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92126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C01-C537-CBA0-A081-ED4EFF02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52BC-FB99-7F1C-8001-6CA95B10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C128-4DC0-D802-E18E-B90917C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C3D-CAFD-3D4F-B164-06B104048945}" type="datetime1">
              <a:rPr lang="en-US" smtClean="0"/>
              <a:t>3/3/26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54729-B83D-6E5C-B81C-22C2A925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1E50-2CA7-4496-CB41-9519D3A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1643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25ED-3B3A-23A0-B54B-F44C7BD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6DE6-7CA7-5632-36A8-B840E8E8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0904-D05C-0AA6-C49A-97536129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85A-5938-CE4B-9DF4-CF315E93FC1E}" type="datetime1">
              <a:rPr lang="en-US" smtClean="0"/>
              <a:t>3/3/26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859E-3DE3-DF55-1F6A-86C3AE5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5522-42A5-41A2-FB3C-6CC8FCE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93436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8F1D-9CD4-39D8-9913-79D452A2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D8C9-776D-2DE5-5597-515E48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395F-435D-23E0-85F2-74319CFC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B565-B15F-284C-917B-D03BDAFB25D0}" type="datetime1">
              <a:rPr lang="en-US" smtClean="0"/>
              <a:t>3/3/26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888-8C2A-E741-DA04-1797B01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A543-1617-D8B9-5779-8B7C82B8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27677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FDC2-ADAE-6DE7-8C6B-FB3F63F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B919-D8D8-DAE8-D427-2D8087BE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BBF0-648A-1E51-8C28-FE2EA6BBC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6486F-C461-ECB9-78AE-1CBA3E04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2025-B6A1-9A42-B0F8-54D8E9CA33F0}" type="datetime1">
              <a:rPr lang="en-US" smtClean="0"/>
              <a:t>3/3/26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E57A9-DE4E-65AA-2309-EC6B7621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8506-BA1E-A381-C15F-D9105B4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85045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089-4385-EE25-CD1F-69CDB384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1C7-DC9E-A5EF-5568-FC862234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2522-3D41-A899-530F-ACAAA9F9D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D045-2CE3-B158-56D7-1DDEF30AC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C2A4E-DCD8-69CF-3E9A-AD85E565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D8E9-F351-D4A9-2445-A7C9BC40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047-CBD3-5D46-8C70-BACF11EDAC19}" type="datetime1">
              <a:rPr lang="en-US" smtClean="0"/>
              <a:t>3/3/26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469BB-0FB8-1E63-C96F-1E58E9C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BB5F-D214-D2E4-8203-E46EBF5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4615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BA2-1F26-AC79-05BA-2A268A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1EE5-65EB-56B6-6E8D-55E6DD2D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BE73-5F61-BF4E-A2AA-B0D4E0CA154F}" type="datetime1">
              <a:rPr lang="en-US" smtClean="0"/>
              <a:t>3/3/26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8161-A087-21E6-4803-8EFD88D5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DE6DA-62D2-3B4C-B330-4FADC553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63825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7ED26-3B72-B03E-3F68-435E4E7E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9CC5-2BD8-044A-99D8-C593C8281B02}" type="datetime1">
              <a:rPr lang="en-US" smtClean="0"/>
              <a:t>3/3/26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78B6E-051C-9F02-EC68-B0C58F73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C148-7C52-505E-25EB-BA68B9B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93313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8571-9CEF-EF34-C125-0B3AD199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483-46A7-77A6-675B-5B5BA300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38D8-AAB1-0068-F7A3-A611A1E4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1A91-3ED2-8427-A331-2EDE597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8E76-BC7F-524A-A345-2A48A76CADCF}" type="datetime1">
              <a:rPr lang="en-US" smtClean="0"/>
              <a:t>3/3/26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088A-4BD8-B9FB-B8A2-6A20BCED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F12D4-8946-36CB-FCA6-564D6ED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17850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961-C38B-E36F-4575-DDABF672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C4FF-53AD-5261-33A1-273CD419A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639EF-1831-4AD8-9D6E-50D896C29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8694D-7DAE-5229-CFD2-2E790AE1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B7C3-7324-CC42-89F0-693CC2798C1F}" type="datetime1">
              <a:rPr lang="en-US" smtClean="0"/>
              <a:t>3/3/26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9055-AC9C-5AB2-7BFF-6C3DD72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0EDB-46AB-BFEA-DC00-46E1BA5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03256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05F-12EF-9CA7-087B-FF47E5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DF5-1B73-7896-CF93-A88C022A9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AADB-8F77-EEBA-35CC-68A8674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3E6D-5DFB-0D40-A92C-D12944788CE4}" type="datetime1">
              <a:rPr lang="en-US" smtClean="0"/>
              <a:t>3/3/26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C63A-9987-FC6C-69DC-E60DFC3A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14D-C848-B40C-7246-383D022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90385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E898F-B762-5861-030B-08A3881F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F8BBF-BADD-0361-A41B-D28639BEB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A3C7-6175-D8C4-EB97-255147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44117-F71E-5048-A23E-D71DDF755124}" type="datetime1">
              <a:rPr lang="en-US" smtClean="0"/>
              <a:t>3/3/26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FA1A-A85A-AF57-69F0-93EDB44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618E-A3C5-A411-5BE9-E871E4F7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374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693A4-3C53-B7B0-CF62-11883ABC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D9CE9-81D4-4768-B915-962C3AFCB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02B8E-B51A-DEDA-6E56-90B90539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E5275-D3E6-A44F-9925-47DEA318869C}" type="datetimeFigureOut">
              <a:rPr lang="en-UA" smtClean="0"/>
              <a:t>03.03.2026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56E8-6279-A6E4-EC10-72D79B74B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E6504-4B73-2BC6-0122-58A630273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5005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E8BD0-45EB-29FE-3F01-E095349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2B60-92A6-5D3C-73A3-955A9F96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7ED2-1692-1E41-C7FC-B8C2935E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5BD5-9148-6841-BAD7-3A240BDC256D}" type="datetime1">
              <a:rPr lang="en-US" smtClean="0"/>
              <a:t>3/3/26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E31E-86DE-E102-1D79-5CD1C2D51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78FE-8BE8-75E7-1610-7551741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3695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0C7-437D-CC26-CAC4-C7FBC74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6" y="2566114"/>
            <a:ext cx="9247254" cy="2289259"/>
          </a:xfrm>
        </p:spPr>
        <p:txBody>
          <a:bodyPr>
            <a:no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Інтерфейси. Наслідування класів та інтерфейсів. Абстрактні класи. Віртуальні та перекриті методи. Закриті класи і методи. Перевантаження операцій. Використання власних індексаторів. Порівняння об'єктів. Перетворення типів.</a:t>
            </a:r>
            <a:endParaRPr lang="uk-UA" sz="3200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50CA5-07B0-8312-B2A5-14EC91DFCCB5}"/>
              </a:ext>
            </a:extLst>
          </p:cNvPr>
          <p:cNvSpPr txBox="1"/>
          <p:nvPr/>
        </p:nvSpPr>
        <p:spPr>
          <a:xfrm>
            <a:off x="2676305" y="233211"/>
            <a:ext cx="8214637" cy="166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МІНІСТЕРСТВО ОСВІТИ І НАУКИ УКРАЇНИ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ЛЬВІВСЬКИЙ НАЦІОНАЛЬНИЙ УНІВЕРСИТЕТ ІМЕНІ ІВАНА ФРАНКА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sz="2000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Факультет прикладної математики та інформатики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(повне найменування назва факультету) </a:t>
            </a:r>
          </a:p>
          <a:p>
            <a:pPr algn="ctr"/>
            <a:r>
              <a:rPr lang="uk-UA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Кафедра дискретного аналізу та інтелектуальних систем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(повна назва кафедри)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26903-4104-998E-F8C8-8EF770480562}"/>
              </a:ext>
            </a:extLst>
          </p:cNvPr>
          <p:cNvSpPr txBox="1"/>
          <p:nvPr/>
        </p:nvSpPr>
        <p:spPr>
          <a:xfrm>
            <a:off x="5937941" y="6022547"/>
            <a:ext cx="16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Львів – 202</a:t>
            </a:r>
            <a:r>
              <a:rPr lang="en-US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6</a:t>
            </a:r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762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Інтерфейси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022875-1337-A87B-D830-5C58062E2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652" y="1107671"/>
            <a:ext cx="7135762" cy="52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7495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Стандартні інтерфейси </a:t>
            </a:r>
            <a:r>
              <a:rPr lang="en-US" b="1" i="0" u="none" strike="noStrike" dirty="0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IComparable</a:t>
            </a:r>
            <a:r>
              <a:rPr lang="en-US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US" b="1" i="0" u="none" strike="noStrike" dirty="0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IEnumerable</a:t>
            </a:r>
            <a:r>
              <a:rPr lang="en-US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US" b="1" i="0" u="none" strike="noStrike" dirty="0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ICloneable</a:t>
            </a:r>
            <a:endParaRPr lang="en-US" b="1" i="0" u="none" strike="noStrike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E5BFC4-2585-D11E-EFC9-3A2DE84E4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193" y="1181091"/>
            <a:ext cx="6644240" cy="521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0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450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Наслідування класів та інтерфейсів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3668BB-B61E-2041-B06E-C927C67D7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533" y="2379133"/>
            <a:ext cx="7772400" cy="236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09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Абстрактні класи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609F82-5B7A-F944-FA24-4686D5BE1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617" y="1525247"/>
            <a:ext cx="7772400" cy="406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79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F17F0-F891-D8F7-B18C-9E9F4623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77AEFC-FBEA-5EF6-B1FB-D5569EB2DA23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ED1A8-3D51-5E81-AE67-A82AFBFDC4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A09F2-6FFC-DA3D-CAFF-83FE0990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7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779D6D-F2E8-69EB-4200-9B8083F18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pic>
        <p:nvPicPr>
          <p:cNvPr id="1026" name="Picture 2" descr="Seriously, what's the difference? : r/ProgrammerHumor">
            <a:extLst>
              <a:ext uri="{FF2B5EF4-FFF2-40B4-BE49-F238E27FC236}">
                <a16:creationId xmlns:a16="http://schemas.microsoft.com/office/drawing/2014/main" id="{142B5A87-DEA1-90CE-4D92-BEA957ECA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159" y="0"/>
            <a:ext cx="6111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21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8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3977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Абстрактни</a:t>
            </a:r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й клас </a:t>
            </a:r>
            <a:r>
              <a:rPr lang="en-US" b="1" dirty="0">
                <a:solidFill>
                  <a:srgbClr val="002060"/>
                </a:solidFill>
                <a:latin typeface="Century Gothic" panose="020B0502020202020204" pitchFamily="34" charset="0"/>
              </a:rPr>
              <a:t>vs </a:t>
            </a:r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інтерфейс</a:t>
            </a:r>
            <a:endParaRPr lang="en-US" b="1" i="0" u="none" strike="noStrike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378A11-A1A0-AB46-C92C-9E77844E7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682141"/>
              </p:ext>
            </p:extLst>
          </p:nvPr>
        </p:nvGraphicFramePr>
        <p:xfrm>
          <a:off x="2258344" y="1063895"/>
          <a:ext cx="9602339" cy="5502168"/>
        </p:xfrm>
        <a:graphic>
          <a:graphicData uri="http://schemas.openxmlformats.org/drawingml/2006/table">
            <a:tbl>
              <a:tblPr/>
              <a:tblGrid>
                <a:gridCol w="2060345">
                  <a:extLst>
                    <a:ext uri="{9D8B030D-6E8A-4147-A177-3AD203B41FA5}">
                      <a16:colId xmlns:a16="http://schemas.microsoft.com/office/drawing/2014/main" val="2669166113"/>
                    </a:ext>
                  </a:extLst>
                </a:gridCol>
                <a:gridCol w="4099776">
                  <a:extLst>
                    <a:ext uri="{9D8B030D-6E8A-4147-A177-3AD203B41FA5}">
                      <a16:colId xmlns:a16="http://schemas.microsoft.com/office/drawing/2014/main" val="2786850295"/>
                    </a:ext>
                  </a:extLst>
                </a:gridCol>
                <a:gridCol w="3442218">
                  <a:extLst>
                    <a:ext uri="{9D8B030D-6E8A-4147-A177-3AD203B41FA5}">
                      <a16:colId xmlns:a16="http://schemas.microsoft.com/office/drawing/2014/main" val="1025094400"/>
                    </a:ext>
                  </a:extLst>
                </a:gridCol>
              </a:tblGrid>
              <a:tr h="193393">
                <a:tc>
                  <a:txBody>
                    <a:bodyPr/>
                    <a:lstStyle/>
                    <a:p>
                      <a:pPr fontAlgn="b"/>
                      <a:r>
                        <a:rPr lang="uk-UA" sz="1800" b="1" dirty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Особливість</a:t>
                      </a:r>
                    </a:p>
                  </a:txBody>
                  <a:tcPr marL="48348" marR="48348" marT="24174" marB="24174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uk-UA" sz="1800" b="1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Абстрактний клас</a:t>
                      </a:r>
                    </a:p>
                  </a:txBody>
                  <a:tcPr marL="48348" marR="48348" marT="24174" marB="24174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uk-UA" sz="1800" b="1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Інтерфейс</a:t>
                      </a:r>
                    </a:p>
                  </a:txBody>
                  <a:tcPr marL="48348" marR="48348" marT="24174" marB="24174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048915"/>
                  </a:ext>
                </a:extLst>
              </a:tr>
              <a:tr h="918616">
                <a:tc>
                  <a:txBody>
                    <a:bodyPr/>
                    <a:lstStyle/>
                    <a:p>
                      <a:pPr fontAlgn="base"/>
                      <a:r>
                        <a:rPr lang="uk-UA" sz="1800" dirty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Оголошення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uk-UA" sz="1800" dirty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Може містити реальні методи та абстрактні методи, властивості, події, конструктори та інші члени класу.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uk-UA" sz="180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Містить тільки абстрактні методи, властивості, індексатори, події. Не містить реалізації методів.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5895403"/>
                  </a:ext>
                </a:extLst>
              </a:tr>
              <a:tr h="1208705">
                <a:tc>
                  <a:txBody>
                    <a:bodyPr/>
                    <a:lstStyle/>
                    <a:p>
                      <a:pPr fontAlgn="base"/>
                      <a:r>
                        <a:rPr lang="uk-UA" sz="180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Реалізація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uk-UA" sz="1800" dirty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Клас, який успадковує абстрактний клас, повинен реалізувати всі абстрактні методи. Може мати власні поля та методи.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uk-UA" sz="180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Клас, який реалізує інтерфейс, повинен реалізувати всі його методи. Може реалізовувати декілька інтерфейсів.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504148"/>
                  </a:ext>
                </a:extLst>
              </a:tr>
              <a:tr h="918616">
                <a:tc>
                  <a:txBody>
                    <a:bodyPr/>
                    <a:lstStyle/>
                    <a:p>
                      <a:pPr fontAlgn="base"/>
                      <a:r>
                        <a:rPr lang="uk-UA" sz="180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Використання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uk-UA" sz="1800" dirty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Використовується для надання базової реалізації та створення ієрархії класів.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uk-UA" sz="1800" dirty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Використовується для задання контрактів та стандартів, яким повинен відповідати клас.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34936"/>
                  </a:ext>
                </a:extLst>
              </a:tr>
              <a:tr h="773571">
                <a:tc>
                  <a:txBody>
                    <a:bodyPr/>
                    <a:lstStyle/>
                    <a:p>
                      <a:pPr fontAlgn="base"/>
                      <a:r>
                        <a:rPr lang="uk-UA" sz="180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Багатократне успадкування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uk-UA" sz="180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Клас може успадковувати тільки один абстрактний клас.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uk-UA" sz="1800" dirty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Клас може реалізовувати декілька інтерфейсів одночасно.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28652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 fontAlgn="base"/>
                      <a:r>
                        <a:rPr lang="uk-UA" sz="180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Може містити конструктори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uk-UA" sz="180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Так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uk-UA" sz="1800" dirty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Ні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972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978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9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4440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Віртуальні та перевизначені методи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1ABD78-53AA-97A8-C42D-34EDDEC7F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617" y="1525247"/>
            <a:ext cx="7772400" cy="434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26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Питання?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10118</TotalTime>
  <Words>937</Words>
  <Application>Microsoft Macintosh PowerPoint</Application>
  <PresentationFormat>Widescreen</PresentationFormat>
  <Paragraphs>118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Söhne</vt:lpstr>
      <vt:lpstr>Times New Roman</vt:lpstr>
      <vt:lpstr>Office Theme</vt:lpstr>
      <vt:lpstr>1_Office Theme</vt:lpstr>
      <vt:lpstr>PowerPoint Presentation</vt:lpstr>
      <vt:lpstr>Інтерфейси. Наслідування класів та інтерфейсів. Абстрактні класи. Віртуальні та перекриті методи. Закриті класи і методи. Перевантаження операцій. Використання власних індексаторів. Порівняння об'єктів. Перетворення типів.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Orest Onyshchenko</dc:creator>
  <cp:lastModifiedBy>Орест Онищенко</cp:lastModifiedBy>
  <cp:revision>8</cp:revision>
  <dcterms:created xsi:type="dcterms:W3CDTF">2024-01-23T17:14:06Z</dcterms:created>
  <dcterms:modified xsi:type="dcterms:W3CDTF">2026-03-03T07:17:57Z</dcterms:modified>
</cp:coreProperties>
</file>